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25" r:id="rId6"/>
    <p:sldId id="304" r:id="rId7"/>
    <p:sldId id="307" r:id="rId8"/>
    <p:sldId id="281" r:id="rId9"/>
    <p:sldId id="282" r:id="rId10"/>
    <p:sldId id="314" r:id="rId11"/>
    <p:sldId id="323" r:id="rId12"/>
    <p:sldId id="315" r:id="rId13"/>
    <p:sldId id="324" r:id="rId14"/>
    <p:sldId id="317" r:id="rId15"/>
    <p:sldId id="318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C8C"/>
    <a:srgbClr val="202C8F"/>
    <a:srgbClr val="FDFBF6"/>
    <a:srgbClr val="AAC4E9"/>
    <a:srgbClr val="F5CDCE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59" d="100"/>
          <a:sy n="59" d="100"/>
        </p:scale>
        <p:origin x="1176" y="6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9E24-3496-1DE0-E35B-DABE0C53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3E9CE-DF25-71A4-F7B2-0A8F4E829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C4CB9-2AD8-5093-3D88-74F5EB672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260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7AD6-FEA0-EAED-F726-10EDD31F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CE232-6447-5C9F-FE47-07C9ED3D2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BCE52-875E-C0AB-33E3-F39280959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634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9814" y="810227"/>
            <a:ext cx="7903029" cy="3831221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QMS Workflow in Pharmaceutical Manufacturing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5117-5030-95BA-C276-3A4573B4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50337"/>
            <a:ext cx="8427012" cy="1531357"/>
          </a:xfrm>
        </p:spPr>
        <p:txBody>
          <a:bodyPr/>
          <a:lstStyle/>
          <a:p>
            <a:r>
              <a:rPr lang="en-IN" sz="2800" dirty="0"/>
              <a:t>Agenda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4392A-40A1-283F-DB82-A514386E5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974" y="1581694"/>
            <a:ext cx="6732106" cy="446029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Introduction to QMS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API &amp; FDF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Manufacturing Workflow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Quality Checks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Deviations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CAPA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Product Release &amp; Recall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Conclusion</a:t>
            </a:r>
          </a:p>
          <a:p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DBB3E-8D51-B405-2053-C00250E64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447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457200"/>
            <a:ext cx="10205356" cy="1861457"/>
          </a:xfrm>
        </p:spPr>
        <p:txBody>
          <a:bodyPr/>
          <a:lstStyle/>
          <a:p>
            <a:r>
              <a:rPr lang="en-IN" sz="2800" dirty="0"/>
              <a:t>Quality Management System (QMS) Workflow in Pharmaceutical Manufacturing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588632"/>
            <a:ext cx="9786935" cy="4047712"/>
          </a:xfrm>
        </p:spPr>
        <p:txBody>
          <a:bodyPr>
            <a:normAutofit/>
          </a:bodyPr>
          <a:lstStyle/>
          <a:p>
            <a:r>
              <a:rPr lang="en-IN" sz="2800" b="1" dirty="0"/>
              <a:t>Case Study</a:t>
            </a:r>
          </a:p>
          <a:p>
            <a:r>
              <a:rPr lang="en-IN" sz="2800" b="1" dirty="0">
                <a:solidFill>
                  <a:schemeClr val="tx1"/>
                </a:solidFill>
              </a:rPr>
              <a:t>API:</a:t>
            </a:r>
            <a:r>
              <a:rPr lang="en-IN" sz="2800" dirty="0">
                <a:solidFill>
                  <a:schemeClr val="tx1"/>
                </a:solidFill>
              </a:rPr>
              <a:t> Amoxicillin Powder</a:t>
            </a:r>
          </a:p>
          <a:p>
            <a:r>
              <a:rPr lang="en-IN" sz="2800" b="1" dirty="0">
                <a:solidFill>
                  <a:schemeClr val="tx1"/>
                </a:solidFill>
              </a:rPr>
              <a:t>Finished Dosage Form (FDF):</a:t>
            </a:r>
            <a:r>
              <a:rPr lang="en-IN" sz="2800" dirty="0">
                <a:solidFill>
                  <a:schemeClr val="tx1"/>
                </a:solidFill>
              </a:rPr>
              <a:t> Amoxicillin 500 mg Tablet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388" y="1061623"/>
            <a:ext cx="7674426" cy="4739104"/>
          </a:xfrm>
        </p:spPr>
        <p:txBody>
          <a:bodyPr/>
          <a:lstStyle/>
          <a:p>
            <a:r>
              <a:rPr lang="en-IN" sz="2400" b="0" dirty="0">
                <a:solidFill>
                  <a:schemeClr val="bg2">
                    <a:lumMod val="10000"/>
                  </a:schemeClr>
                </a:solidFill>
              </a:rPr>
              <a:t>What is an API?</a:t>
            </a:r>
            <a:br>
              <a:rPr lang="en-IN" sz="2400" b="0" dirty="0">
                <a:solidFill>
                  <a:schemeClr val="bg2">
                    <a:lumMod val="10000"/>
                  </a:schemeClr>
                </a:solidFill>
              </a:rPr>
            </a:br>
            <a:br>
              <a:rPr lang="en-IN" sz="2400" b="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IN" sz="2400" b="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API</a:t>
            </a:r>
            <a:r>
              <a:rPr lang="en-IN" sz="2400" b="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sz="2400" b="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(Active Pharmaceutical Ingredient) </a:t>
            </a:r>
            <a:r>
              <a:rPr lang="en-IN" sz="24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Is The Primary Component Responsible For The Therapeutic Effect Of A Medicine.</a:t>
            </a:r>
            <a:br>
              <a:rPr lang="en-IN" sz="24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</a:br>
            <a:br>
              <a:rPr lang="en-IN" sz="2400" b="0" dirty="0">
                <a:solidFill>
                  <a:schemeClr val="bg2">
                    <a:lumMod val="10000"/>
                  </a:schemeClr>
                </a:solidFill>
                <a:latin typeface="+mn-lt"/>
              </a:rPr>
            </a:b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Example</a:t>
            </a:r>
            <a:br>
              <a:rPr lang="en-IN" sz="2400" b="0" dirty="0">
                <a:solidFill>
                  <a:schemeClr val="bg2">
                    <a:lumMod val="10000"/>
                  </a:schemeClr>
                </a:solidFill>
                <a:latin typeface="+mn-lt"/>
              </a:rPr>
            </a:br>
            <a:r>
              <a:rPr lang="en-IN" sz="28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Amoxicillin Powder</a:t>
            </a:r>
            <a:br>
              <a:rPr lang="en-IN" sz="28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</a:br>
            <a:r>
              <a:rPr lang="en-IN" sz="28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Treats Bacterial Infections </a:t>
            </a:r>
            <a:br>
              <a:rPr lang="en-IN" sz="28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</a:br>
            <a:r>
              <a:rPr lang="en-IN" sz="28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Procured From Approved Suppliers </a:t>
            </a:r>
            <a:br>
              <a:rPr lang="en-IN" sz="28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</a:br>
            <a:r>
              <a:rPr lang="en-IN" sz="2800" b="0" cap="none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Tested Before Manufacturing</a:t>
            </a:r>
            <a:br>
              <a:rPr lang="en-IN" sz="2800" cap="none" dirty="0">
                <a:latin typeface="+mn-lt"/>
              </a:rPr>
            </a:br>
            <a:endParaRPr lang="en-US" sz="2400" dirty="0">
              <a:latin typeface="+mn-lt"/>
            </a:endParaRP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6" y="489857"/>
            <a:ext cx="3769426" cy="5869668"/>
          </a:xfr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8DB420-9E09-69BB-3227-531E56332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467590"/>
              </p:ext>
            </p:extLst>
          </p:nvPr>
        </p:nvGraphicFramePr>
        <p:xfrm>
          <a:off x="4392388" y="375823"/>
          <a:ext cx="4769236" cy="518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69236">
                  <a:extLst>
                    <a:ext uri="{9D8B030D-6E8A-4147-A177-3AD203B41FA5}">
                      <a16:colId xmlns:a16="http://schemas.microsoft.com/office/drawing/2014/main" val="2503683100"/>
                    </a:ext>
                  </a:extLst>
                </a:gridCol>
              </a:tblGrid>
              <a:tr h="241420">
                <a:tc>
                  <a:txBody>
                    <a:bodyPr/>
                    <a:lstStyle/>
                    <a:p>
                      <a:r>
                        <a:rPr lang="en-IN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Understanding API &amp; FDF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663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858" y="495980"/>
            <a:ext cx="6432069" cy="869496"/>
          </a:xfrm>
        </p:spPr>
        <p:txBody>
          <a:bodyPr/>
          <a:lstStyle/>
          <a:p>
            <a:r>
              <a:rPr lang="en-IN" sz="2800" dirty="0"/>
              <a:t>What is an FDF?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59" y="1877786"/>
            <a:ext cx="6432069" cy="416419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FDF (Finished Dosage Form)</a:t>
            </a:r>
            <a:r>
              <a:rPr lang="en-IN" dirty="0">
                <a:solidFill>
                  <a:schemeClr val="tx1"/>
                </a:solidFill>
              </a:rPr>
              <a:t> is the final medicine after manufacturing.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Example</a:t>
            </a:r>
          </a:p>
          <a:p>
            <a:r>
              <a:rPr lang="en-IN" b="1" dirty="0">
                <a:solidFill>
                  <a:schemeClr val="tx1"/>
                </a:solidFill>
              </a:rPr>
              <a:t>Amoxicillin 500 mg Tablet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Ready for</a:t>
            </a:r>
          </a:p>
          <a:p>
            <a:r>
              <a:rPr lang="en-IN" dirty="0">
                <a:solidFill>
                  <a:schemeClr val="tx1"/>
                </a:solidFill>
              </a:rPr>
              <a:t>Packaging </a:t>
            </a:r>
          </a:p>
          <a:p>
            <a:r>
              <a:rPr lang="en-IN" dirty="0">
                <a:solidFill>
                  <a:schemeClr val="tx1"/>
                </a:solidFill>
              </a:rPr>
              <a:t>Distribution </a:t>
            </a:r>
          </a:p>
          <a:p>
            <a:r>
              <a:rPr lang="en-IN" dirty="0">
                <a:solidFill>
                  <a:schemeClr val="tx1"/>
                </a:solidFill>
              </a:rPr>
              <a:t>Patient use</a:t>
            </a:r>
          </a:p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930728"/>
            <a:ext cx="4344695" cy="5927271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99" y="-11222"/>
            <a:ext cx="8568526" cy="779687"/>
          </a:xfrm>
        </p:spPr>
        <p:txBody>
          <a:bodyPr/>
          <a:lstStyle/>
          <a:p>
            <a:r>
              <a:rPr lang="en-IN" sz="2800" dirty="0"/>
              <a:t>Manufacturing Workflow with QMS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26871" y="928688"/>
            <a:ext cx="8699154" cy="5929311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Receive Raw Materials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↓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Incoming Quality Inspection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↓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Manufacturing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↓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In-Process Quality Check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↓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Final Quality Inspection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↓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Packaging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↓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Product Release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↓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Patients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09803" y="865414"/>
            <a:ext cx="7897783" cy="576398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Quality Checks</a:t>
            </a:r>
          </a:p>
          <a:p>
            <a:endParaRPr lang="en-IN" b="1" dirty="0"/>
          </a:p>
          <a:p>
            <a:r>
              <a:rPr lang="en-IN" dirty="0">
                <a:solidFill>
                  <a:schemeClr val="accent1">
                    <a:lumMod val="25000"/>
                  </a:schemeClr>
                </a:solidFill>
              </a:rPr>
              <a:t>Before manufacturing              </a:t>
            </a:r>
          </a:p>
          <a:p>
            <a:r>
              <a:rPr lang="en-IN" dirty="0">
                <a:solidFill>
                  <a:schemeClr val="tx1"/>
                </a:solidFill>
              </a:rPr>
              <a:t>✔ API Purity</a:t>
            </a:r>
          </a:p>
          <a:p>
            <a:r>
              <a:rPr lang="en-IN" dirty="0">
                <a:solidFill>
                  <a:schemeClr val="tx1"/>
                </a:solidFill>
              </a:rPr>
              <a:t>✔ Moisture Content</a:t>
            </a:r>
          </a:p>
          <a:p>
            <a:r>
              <a:rPr lang="en-IN" dirty="0">
                <a:solidFill>
                  <a:schemeClr val="tx1"/>
                </a:solidFill>
              </a:rPr>
              <a:t>✔ Identity Test</a:t>
            </a:r>
          </a:p>
          <a:p>
            <a:r>
              <a:rPr lang="en-IN" dirty="0">
                <a:solidFill>
                  <a:schemeClr val="tx1"/>
                </a:solidFill>
              </a:rPr>
              <a:t>✔ Supplier Approval</a:t>
            </a:r>
          </a:p>
          <a:p>
            <a:endParaRPr lang="en-US" dirty="0"/>
          </a:p>
          <a:p>
            <a:r>
              <a:rPr lang="en-IN" dirty="0">
                <a:solidFill>
                  <a:schemeClr val="accent1">
                    <a:lumMod val="25000"/>
                  </a:schemeClr>
                </a:solidFill>
              </a:rPr>
              <a:t>During manufacturing</a:t>
            </a:r>
          </a:p>
          <a:p>
            <a:r>
              <a:rPr lang="en-IN" dirty="0">
                <a:solidFill>
                  <a:schemeClr val="tx1"/>
                </a:solidFill>
              </a:rPr>
              <a:t>✔ Tablet Weight</a:t>
            </a:r>
          </a:p>
          <a:p>
            <a:r>
              <a:rPr lang="en-IN" dirty="0">
                <a:solidFill>
                  <a:schemeClr val="tx1"/>
                </a:solidFill>
              </a:rPr>
              <a:t>✔ Tablet Hardness</a:t>
            </a:r>
          </a:p>
          <a:p>
            <a:r>
              <a:rPr lang="en-IN" dirty="0">
                <a:solidFill>
                  <a:schemeClr val="tx1"/>
                </a:solidFill>
              </a:rPr>
              <a:t>✔ Dissolution Test</a:t>
            </a:r>
          </a:p>
          <a:p>
            <a:r>
              <a:rPr lang="en-IN" dirty="0">
                <a:solidFill>
                  <a:schemeClr val="tx1"/>
                </a:solidFill>
              </a:rPr>
              <a:t>✔ Appearance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accent1">
                    <a:lumMod val="25000"/>
                  </a:schemeClr>
                </a:solidFill>
              </a:rPr>
              <a:t>After manufacturing</a:t>
            </a:r>
          </a:p>
          <a:p>
            <a:r>
              <a:rPr lang="en-IN" dirty="0">
                <a:solidFill>
                  <a:schemeClr val="tx1"/>
                </a:solidFill>
              </a:rPr>
              <a:t>✔ Final QA Approval</a:t>
            </a:r>
          </a:p>
          <a:p>
            <a:r>
              <a:rPr lang="en-IN" dirty="0">
                <a:solidFill>
                  <a:schemeClr val="tx1"/>
                </a:solidFill>
              </a:rPr>
              <a:t>✔ Batch Review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3" y="-293913"/>
            <a:ext cx="7897783" cy="1028286"/>
          </a:xfrm>
        </p:spPr>
        <p:txBody>
          <a:bodyPr/>
          <a:lstStyle/>
          <a:p>
            <a:r>
              <a:rPr lang="en-IN" sz="2800" dirty="0"/>
              <a:t>Quality Checks &amp; Deviations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9B75-ED4C-5A9D-18F4-EBB8677E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07AEB-D49E-F7E9-C20C-E884ADFE5B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20886" y="865414"/>
            <a:ext cx="8703128" cy="576398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Deviation Example</a:t>
            </a:r>
          </a:p>
          <a:p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25000"/>
                  </a:schemeClr>
                </a:solidFill>
              </a:rPr>
              <a:t>Expected</a:t>
            </a:r>
          </a:p>
          <a:p>
            <a:r>
              <a:rPr lang="en-IN" dirty="0">
                <a:solidFill>
                  <a:schemeClr val="tx1"/>
                </a:solidFill>
              </a:rPr>
              <a:t>Machine Temperature</a:t>
            </a:r>
          </a:p>
          <a:p>
            <a:r>
              <a:rPr lang="en-IN" b="1" dirty="0">
                <a:solidFill>
                  <a:schemeClr val="tx1"/>
                </a:solidFill>
              </a:rPr>
              <a:t>25°C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25000"/>
                  </a:schemeClr>
                </a:solidFill>
              </a:rPr>
              <a:t>Actual</a:t>
            </a:r>
          </a:p>
          <a:p>
            <a:r>
              <a:rPr lang="en-IN" dirty="0">
                <a:solidFill>
                  <a:schemeClr val="tx1"/>
                </a:solidFill>
              </a:rPr>
              <a:t>Machine Temperature</a:t>
            </a:r>
          </a:p>
          <a:p>
            <a:r>
              <a:rPr lang="en-IN" b="1" dirty="0">
                <a:solidFill>
                  <a:schemeClr val="tx1"/>
                </a:solidFill>
              </a:rPr>
              <a:t>40°C</a:t>
            </a:r>
          </a:p>
          <a:p>
            <a:endParaRPr lang="en-IN" dirty="0"/>
          </a:p>
          <a:p>
            <a:r>
              <a:rPr lang="en-IN" dirty="0">
                <a:solidFill>
                  <a:schemeClr val="accent1">
                    <a:lumMod val="25000"/>
                  </a:schemeClr>
                </a:solidFill>
              </a:rPr>
              <a:t>Deviation Recorded in QMS</a:t>
            </a:r>
          </a:p>
          <a:p>
            <a:r>
              <a:rPr lang="en-IN" dirty="0">
                <a:solidFill>
                  <a:schemeClr val="tx1"/>
                </a:solidFill>
              </a:rPr>
              <a:t>Information stored</a:t>
            </a:r>
          </a:p>
          <a:p>
            <a:r>
              <a:rPr lang="en-IN" dirty="0">
                <a:solidFill>
                  <a:schemeClr val="tx1"/>
                </a:solidFill>
              </a:rPr>
              <a:t>Batch Number </a:t>
            </a:r>
          </a:p>
          <a:p>
            <a:r>
              <a:rPr lang="en-IN" dirty="0">
                <a:solidFill>
                  <a:schemeClr val="tx1"/>
                </a:solidFill>
              </a:rPr>
              <a:t>Date </a:t>
            </a:r>
          </a:p>
          <a:p>
            <a:r>
              <a:rPr lang="en-IN" dirty="0">
                <a:solidFill>
                  <a:schemeClr val="tx1"/>
                </a:solidFill>
              </a:rPr>
              <a:t>Issue Description </a:t>
            </a:r>
          </a:p>
          <a:p>
            <a:r>
              <a:rPr lang="en-IN" dirty="0">
                <a:solidFill>
                  <a:schemeClr val="tx1"/>
                </a:solidFill>
              </a:rPr>
              <a:t>Reported By </a:t>
            </a:r>
          </a:p>
          <a:p>
            <a:r>
              <a:rPr lang="en-IN" dirty="0">
                <a:solidFill>
                  <a:schemeClr val="tx1"/>
                </a:solidFill>
              </a:rPr>
              <a:t>Investigation Status</a:t>
            </a:r>
          </a:p>
          <a:p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7423B5E-7F8E-607D-C1A0-5437198A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3" y="-293913"/>
            <a:ext cx="7897783" cy="1028286"/>
          </a:xfrm>
        </p:spPr>
        <p:txBody>
          <a:bodyPr/>
          <a:lstStyle/>
          <a:p>
            <a:r>
              <a:rPr lang="en-IN" sz="2800" dirty="0"/>
              <a:t>Quality Checks &amp; Deviations</a:t>
            </a:r>
          </a:p>
        </p:txBody>
      </p:sp>
    </p:spTree>
    <p:extLst>
      <p:ext uri="{BB962C8B-B14F-4D97-AF65-F5344CB8AC3E}">
        <p14:creationId xmlns:p14="http://schemas.microsoft.com/office/powerpoint/2010/main" val="196185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156" y="195944"/>
            <a:ext cx="8245929" cy="1077686"/>
          </a:xfrm>
        </p:spPr>
        <p:txBody>
          <a:bodyPr/>
          <a:lstStyle/>
          <a:p>
            <a:r>
              <a:rPr lang="en-IN" sz="2800" dirty="0"/>
              <a:t>CAPA (Corrective and Preventive Action)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4156" y="1681843"/>
            <a:ext cx="10821871" cy="2155372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accent1">
                    <a:lumMod val="25000"/>
                  </a:schemeClr>
                </a:solidFill>
              </a:rPr>
              <a:t>What is CAPA?</a:t>
            </a:r>
          </a:p>
          <a:p>
            <a:r>
              <a:rPr lang="en-IN" sz="2400" dirty="0"/>
              <a:t>CAPA stands for  </a:t>
            </a: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Corrective and Preventive Action </a:t>
            </a: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IN" sz="2400" dirty="0">
                <a:solidFill>
                  <a:schemeClr val="tx1"/>
                </a:solidFill>
              </a:rPr>
              <a:t>It helps eliminate existing issues and prevent future occurrences.</a:t>
            </a:r>
          </a:p>
          <a:p>
            <a:r>
              <a:rPr lang="en-IN" sz="2400" b="1" dirty="0">
                <a:solidFill>
                  <a:schemeClr val="tx1"/>
                </a:solidFill>
              </a:rPr>
              <a:t>Problem</a:t>
            </a:r>
          </a:p>
          <a:p>
            <a:r>
              <a:rPr lang="en-IN" sz="2400" dirty="0">
                <a:solidFill>
                  <a:schemeClr val="tx1"/>
                </a:solidFill>
              </a:rPr>
              <a:t>Machine temperature exceeded the acceptable limit during production.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endParaRPr lang="en-US" sz="240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798" y="3641270"/>
            <a:ext cx="9372602" cy="302078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accent1">
                  <a:lumMod val="25000"/>
                </a:schemeClr>
              </a:solidFill>
            </a:endParaRPr>
          </a:p>
          <a:p>
            <a:r>
              <a:rPr lang="en-IN" sz="2400" b="1" dirty="0">
                <a:solidFill>
                  <a:schemeClr val="accent1">
                    <a:lumMod val="25000"/>
                  </a:schemeClr>
                </a:solidFill>
              </a:rPr>
              <a:t>Corrective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Stop production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Repair machine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Calibrate equipment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Inspect affected tablets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2B640-FB77-D591-28C0-DF8CF099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AF3D-B67F-48E5-6E6C-22E110FB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156" y="195944"/>
            <a:ext cx="8245929" cy="1077686"/>
          </a:xfrm>
        </p:spPr>
        <p:txBody>
          <a:bodyPr/>
          <a:lstStyle/>
          <a:p>
            <a:r>
              <a:rPr lang="en-IN" sz="2800" dirty="0"/>
              <a:t>CAPA (Corrective and Preventive Action)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0B00F-8456-207C-90D3-C97BF6714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47698850-F8C4-5D5E-C87F-9E4446993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4157" y="2351314"/>
            <a:ext cx="4718958" cy="1077686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accent1">
                    <a:lumMod val="25000"/>
                  </a:schemeClr>
                </a:solidFill>
              </a:rPr>
              <a:t>Preventive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Schedule routine maintenance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Monitor machine temperature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Train production operators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Update SOPs if required</a:t>
            </a:r>
          </a:p>
          <a:p>
            <a:endParaRPr lang="en-US" sz="240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BEF67FC4-B093-D0B7-8F5B-1F0AA0188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6692" y="1812472"/>
            <a:ext cx="3664894" cy="3233056"/>
          </a:xfrm>
        </p:spPr>
        <p:txBody>
          <a:bodyPr>
            <a:noAutofit/>
          </a:bodyPr>
          <a:lstStyle/>
          <a:p>
            <a:endParaRPr lang="en-US" sz="2400" dirty="0">
              <a:solidFill>
                <a:schemeClr val="accent1">
                  <a:lumMod val="25000"/>
                </a:schemeClr>
              </a:solidFill>
            </a:endParaRPr>
          </a:p>
          <a:p>
            <a:r>
              <a:rPr lang="en-IN" sz="2400" b="1" dirty="0">
                <a:solidFill>
                  <a:schemeClr val="accent1">
                    <a:lumMod val="25000"/>
                  </a:schemeClr>
                </a:solidFill>
              </a:rPr>
              <a:t>QMS Records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Root Cause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Corrective Action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Preventive Action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Responsible Person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Completion Status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4903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0"/>
            <a:ext cx="7174941" cy="986479"/>
          </a:xfrm>
        </p:spPr>
        <p:txBody>
          <a:bodyPr/>
          <a:lstStyle/>
          <a:p>
            <a:r>
              <a:rPr lang="en-IN" sz="2800" dirty="0"/>
              <a:t>Product Release &amp; Recall</a:t>
            </a:r>
            <a:endParaRPr lang="en-US" sz="2800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56688" y="1280393"/>
            <a:ext cx="3282950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25000"/>
                  </a:schemeClr>
                </a:solidFill>
              </a:rPr>
              <a:t>Product Release</a:t>
            </a:r>
          </a:p>
          <a:p>
            <a:pPr marL="0" indent="0">
              <a:buNone/>
            </a:pPr>
            <a:endParaRPr lang="en-I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After all inspections are successfully completed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QA Department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         ↓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Approves Batch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Product Released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Market Distribution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16829" y="1280393"/>
            <a:ext cx="4972625" cy="5166445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accent1">
                    <a:lumMod val="25000"/>
                  </a:schemeClr>
                </a:solidFill>
              </a:rPr>
              <a:t>Product Recall</a:t>
            </a:r>
          </a:p>
          <a:p>
            <a:r>
              <a:rPr lang="en-IN" sz="2000" dirty="0">
                <a:solidFill>
                  <a:schemeClr val="tx1"/>
                </a:solidFill>
              </a:rPr>
              <a:t>Suppose customers report defective tablets.</a:t>
            </a:r>
          </a:p>
          <a:p>
            <a:r>
              <a:rPr lang="en-IN" sz="2000" dirty="0">
                <a:solidFill>
                  <a:schemeClr val="tx1"/>
                </a:solidFill>
              </a:rPr>
              <a:t>The company immediately checks the QMS.</a:t>
            </a:r>
          </a:p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QMS identifies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Batch Number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Manufacturing Date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Supplier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Distribution Details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Affected Customers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The defective batch is recalled quickly.</a:t>
            </a:r>
          </a:p>
          <a:p>
            <a:endParaRPr lang="en-US" sz="2000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457200"/>
            <a:ext cx="8137751" cy="604158"/>
          </a:xfrm>
        </p:spPr>
        <p:txBody>
          <a:bodyPr/>
          <a:lstStyle/>
          <a:p>
            <a:r>
              <a:rPr lang="en-IN" sz="2800" dirty="0"/>
              <a:t>Conclusion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442" y="1338943"/>
            <a:ext cx="10658585" cy="471466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>
                    <a:lumMod val="25000"/>
                  </a:schemeClr>
                </a:solidFill>
              </a:rPr>
              <a:t>Benefits of QMS</a:t>
            </a:r>
          </a:p>
          <a:p>
            <a:endParaRPr lang="en-IN" sz="2800" b="1" dirty="0">
              <a:solidFill>
                <a:schemeClr val="accent1">
                  <a:lumMod val="25000"/>
                </a:schemeClr>
              </a:solidFill>
            </a:endParaRPr>
          </a:p>
          <a:p>
            <a:r>
              <a:rPr lang="en-IN" sz="2800" dirty="0">
                <a:solidFill>
                  <a:schemeClr val="tx1"/>
                </a:solidFill>
              </a:rPr>
              <a:t>✔ Maintains Product Quality</a:t>
            </a:r>
          </a:p>
          <a:p>
            <a:r>
              <a:rPr lang="en-IN" sz="2800" dirty="0">
                <a:solidFill>
                  <a:schemeClr val="tx1"/>
                </a:solidFill>
              </a:rPr>
              <a:t>✔ Ensures Regulatory Compliance</a:t>
            </a:r>
          </a:p>
          <a:p>
            <a:r>
              <a:rPr lang="en-IN" sz="2800" dirty="0">
                <a:solidFill>
                  <a:schemeClr val="tx1"/>
                </a:solidFill>
              </a:rPr>
              <a:t>✔ Provides Complete Batch Traceability</a:t>
            </a:r>
          </a:p>
          <a:p>
            <a:r>
              <a:rPr lang="en-IN" sz="2800" dirty="0">
                <a:solidFill>
                  <a:schemeClr val="tx1"/>
                </a:solidFill>
              </a:rPr>
              <a:t>✔ Records Deviations</a:t>
            </a:r>
          </a:p>
          <a:p>
            <a:r>
              <a:rPr lang="en-IN" sz="2800" dirty="0">
                <a:solidFill>
                  <a:schemeClr val="tx1"/>
                </a:solidFill>
              </a:rPr>
              <a:t>✔ Manages CAPA</a:t>
            </a:r>
          </a:p>
          <a:p>
            <a:r>
              <a:rPr lang="en-IN" sz="2800" dirty="0">
                <a:solidFill>
                  <a:schemeClr val="tx1"/>
                </a:solidFill>
              </a:rPr>
              <a:t>✔ Supports Product Recalls</a:t>
            </a:r>
          </a:p>
          <a:p>
            <a:r>
              <a:rPr lang="en-IN" sz="2800" dirty="0">
                <a:solidFill>
                  <a:schemeClr val="tx1"/>
                </a:solidFill>
              </a:rPr>
              <a:t>✔ Improves Operational Efficiency</a:t>
            </a:r>
          </a:p>
          <a:p>
            <a:r>
              <a:rPr lang="en-IN" sz="2800" dirty="0">
                <a:solidFill>
                  <a:schemeClr val="tx1"/>
                </a:solidFill>
              </a:rPr>
              <a:t>✔ Protects Patient Safety</a:t>
            </a:r>
          </a:p>
          <a:p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25000"/>
                  </a:schemeClr>
                </a:solidFill>
              </a:rPr>
              <a:t>Prepared By</a:t>
            </a:r>
          </a:p>
          <a:p>
            <a:r>
              <a:rPr lang="en-US" sz="2800" dirty="0">
                <a:solidFill>
                  <a:schemeClr val="tx1"/>
                </a:solidFill>
              </a:rPr>
              <a:t>Kaviya M</a:t>
            </a:r>
          </a:p>
          <a:p>
            <a:r>
              <a:rPr lang="en-US" sz="2800" dirty="0">
                <a:solidFill>
                  <a:schemeClr val="tx1"/>
                </a:solidFill>
              </a:rPr>
              <a:t>kaviyamurugan6380@gmail.com 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{0CC2CB5D-C2E4-40A0-A845-A6EE6054F388}TF8a9b5915-b8c7-461e-8cdd-693d48b5e32371f7b7e2_win32-4bf0b9a2ea37</Template>
  <TotalTime>47</TotalTime>
  <Words>441</Words>
  <Application>Microsoft Office PowerPoint</Application>
  <PresentationFormat>Widescreen</PresentationFormat>
  <Paragraphs>143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Sabon Next LT</vt:lpstr>
      <vt:lpstr>Wingdings</vt:lpstr>
      <vt:lpstr>Custom</vt:lpstr>
      <vt:lpstr>QMS Workflow in Pharmaceutical Manufacturing</vt:lpstr>
      <vt:lpstr>Agenda </vt:lpstr>
      <vt:lpstr>Quality Management System (QMS) Workflow in Pharmaceutical Manufacturing</vt:lpstr>
      <vt:lpstr>What is an API?  API (Active Pharmaceutical Ingredient) Is The Primary Component Responsible For The Therapeutic Effect Of A Medicine.  Example Amoxicillin Powder Treats Bacterial Infections  Procured From Approved Suppliers  Tested Before Manufacturing </vt:lpstr>
      <vt:lpstr>What is an FDF?</vt:lpstr>
      <vt:lpstr>Manufacturing Workflow with QMS</vt:lpstr>
      <vt:lpstr>Quality Checks &amp; Deviations</vt:lpstr>
      <vt:lpstr>Quality Checks &amp; Deviations</vt:lpstr>
      <vt:lpstr>CAPA (Corrective and Preventive Action)</vt:lpstr>
      <vt:lpstr>CAPA (Corrective and Preventive Action)</vt:lpstr>
      <vt:lpstr>Product Release &amp; Recall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Sachitha V</dc:creator>
  <cp:lastModifiedBy>Sachitha V</cp:lastModifiedBy>
  <cp:revision>2</cp:revision>
  <dcterms:created xsi:type="dcterms:W3CDTF">2026-07-14T14:16:59Z</dcterms:created>
  <dcterms:modified xsi:type="dcterms:W3CDTF">2026-07-14T15:09:13Z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